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Yield (r)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7BC6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7514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Temperature</c:v>
                  </c:pt>
                  <c:pt idx="1">
                    <c:v>Humidity</c:v>
                  </c:pt>
                  <c:pt idx="2">
                    <c:v>CO₂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0.524</c:v>
                </c:pt>
                <c:pt idx="1">
                  <c:v>0.242</c:v>
                </c:pt>
                <c:pt idx="2">
                  <c:v>-0.26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F2A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-0.4"/>
        </c:scaling>
        <c:delete val="0"/>
        <c:axPos val="b"/>
        <c:majorGridlines>
          <c:spPr>
            <a:ln w="6350" cap="flat">
              <a:solidFill>
                <a:srgbClr val="E5E5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vazeem-internship-2026-5yryfkqukyvqh9zgefpj7z.streamlit.app" TargetMode="External"/><Relationship Id="rId1" Type="http://schemas.openxmlformats.org/officeDocument/2006/relationships/image" Target="../media/image-10-1.png"/><Relationship Id="rId3" Type="http://schemas.openxmlformats.org/officeDocument/2006/relationships/image" Target="../media/image-10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vazeem-internship-2026-5yryfkqukyvqh9zgefpj7z.streamlit.app" TargetMode="Externa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645920"/>
            <a:ext cx="5029200" cy="5029200"/>
          </a:xfrm>
          <a:prstGeom prst="ellipse">
            <a:avLst/>
          </a:prstGeom>
          <a:solidFill>
            <a:srgbClr val="2C5F2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4114800"/>
          </a:xfrm>
          <a:prstGeom prst="ellipse">
            <a:avLst/>
          </a:prstGeom>
          <a:solidFill>
            <a:srgbClr val="6B8E4E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566928" cy="566928"/>
          </a:xfrm>
          <a:prstGeom prst="ellipse">
            <a:avLst/>
          </a:prstGeom>
          <a:solidFill>
            <a:srgbClr val="6B8E4E"/>
          </a:solidFill>
          <a:ln/>
        </p:spPr>
      </p:sp>
      <p:pic>
        <p:nvPicPr>
          <p:cNvPr id="5" name="Image 0" descr="images/icon_seed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787481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AGRITECH MACHINE LEARNING  ·  INTERNSHIP PROJECT 2026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6974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Mushroom Yield Forecast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566928" y="3931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7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daily oyster mushroom yield in a controlled polyhouse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7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temperature, humidity, and CO₂ sensor data.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66928" y="5029200"/>
            <a:ext cx="0" cy="64008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5806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7D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Vazeem Basheer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7D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Development / Data Science Internship — Zellbytes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Mushroom growth is a climate-sensitive guessing game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Oyster mushrooms are highly sensitive to their microclimate. Without predictive insight, harvest planning has stayed reactive — causing supply-chain inefficiencies, market stockouts, or wasted product.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32461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3044952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7" name="Image 0" descr="images/icon_te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3175711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30358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36576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metabolic rate, growth speed, and fruiting triggers.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069080" y="2788920"/>
            <a:ext cx="32461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97680" y="3044952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2" name="Image 1" descr="images/icon_humid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439" y="3175711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37760" y="30358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Humidity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297680" y="36576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mycelium drying; supports fruiting body expansion.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589520" y="2788920"/>
            <a:ext cx="32461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818120" y="3044952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7" name="Image 2" descr="images/icon_co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8879" y="3175711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58200" y="30358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Dioxide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7818120" y="36576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CO₂ boosts mycelial growth but stunts cap development.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629400" y="1463040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2C5F2D"/>
          </a:solidFill>
          <a:ln/>
        </p:spPr>
      </p:sp>
      <p:sp>
        <p:nvSpPr>
          <p:cNvPr id="21" name="Text 16"/>
          <p:cNvSpPr/>
          <p:nvPr/>
        </p:nvSpPr>
        <p:spPr>
          <a:xfrm>
            <a:off x="6903720" y="146304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shift harvest planning from reactive to predictive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Mushroom Yield Forecast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year of polyhouse telemetry, cleaned into a model-ready dataset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6916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65860" y="2075688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images/icon_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4732" y="219456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6517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21792" y="2953512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 → Parquet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240280" y="237744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8E4E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386584" y="1874520"/>
            <a:ext cx="16916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9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003804" y="2075688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2" name="Image 1" descr="images/icon_cle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676" y="2194560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386584" y="26517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459736" y="2953512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Validate, fill, dedupe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078224" y="237744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8E4E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224528" y="1874520"/>
            <a:ext cx="16916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9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41748" y="2075688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8" name="Image 2" descr="images/icon_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620" y="2194560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224528" y="26517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297680" y="2953512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&amp; correlations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5916168" y="237744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8E4E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062472" y="1874520"/>
            <a:ext cx="16916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9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679692" y="2075688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4" name="Image 3" descr="images/icon_co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8564" y="2194560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062472" y="26517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6135624" y="2953512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features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7754112" y="237744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8E4E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7900416" y="1874520"/>
            <a:ext cx="16916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9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8517636" y="2075688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0" name="Image 4" descr="images/icon_mode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508" y="2194560"/>
            <a:ext cx="219456" cy="21945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900416" y="26517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7973568" y="2953512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&amp; evaluate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9592056" y="237744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8E4E"/>
                </a:solidFill>
              </a:rPr>
              <a:t>→</a:t>
            </a:r>
            <a:endParaRPr lang="en-US" sz="1400" dirty="0"/>
          </a:p>
        </p:txBody>
      </p:sp>
      <p:sp>
        <p:nvSpPr>
          <p:cNvPr id="34" name="Shape 27"/>
          <p:cNvSpPr/>
          <p:nvPr/>
        </p:nvSpPr>
        <p:spPr>
          <a:xfrm>
            <a:off x="9738360" y="1874520"/>
            <a:ext cx="16916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9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10355580" y="2075688"/>
            <a:ext cx="457200" cy="457200"/>
          </a:xfrm>
          <a:prstGeom prst="ellipse">
            <a:avLst/>
          </a:prstGeom>
          <a:solidFill>
            <a:srgbClr val="C75146"/>
          </a:solidFill>
          <a:ln/>
        </p:spPr>
      </p:sp>
      <p:pic>
        <p:nvPicPr>
          <p:cNvPr id="36" name="Image 5" descr="images/icon_troph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4452" y="2194560"/>
            <a:ext cx="219456" cy="21945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738360" y="26517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250" dirty="0"/>
          </a:p>
        </p:txBody>
      </p:sp>
      <p:sp>
        <p:nvSpPr>
          <p:cNvPr id="38" name="Text 30"/>
          <p:cNvSpPr/>
          <p:nvPr/>
        </p:nvSpPr>
        <p:spPr>
          <a:xfrm>
            <a:off x="9811512" y="2953512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model</a:t>
            </a:r>
            <a:endParaRPr lang="en-US" sz="950" dirty="0"/>
          </a:p>
        </p:txBody>
      </p:sp>
      <p:sp>
        <p:nvSpPr>
          <p:cNvPr id="39" name="Shape 31"/>
          <p:cNvSpPr/>
          <p:nvPr/>
        </p:nvSpPr>
        <p:spPr>
          <a:xfrm>
            <a:off x="548640" y="39776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2C5F2D"/>
          </a:solidFill>
          <a:ln/>
        </p:spPr>
      </p:sp>
      <p:sp>
        <p:nvSpPr>
          <p:cNvPr id="40" name="Text 32"/>
          <p:cNvSpPr/>
          <p:nvPr/>
        </p:nvSpPr>
        <p:spPr>
          <a:xfrm>
            <a:off x="548640" y="4069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365</a:t>
            </a:r>
            <a:endParaRPr lang="en-US" sz="3000" dirty="0"/>
          </a:p>
        </p:txBody>
      </p:sp>
      <p:sp>
        <p:nvSpPr>
          <p:cNvPr id="41" name="Text 33"/>
          <p:cNvSpPr/>
          <p:nvPr/>
        </p:nvSpPr>
        <p:spPr>
          <a:xfrm>
            <a:off x="548640" y="465429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records</a:t>
            </a:r>
            <a:endParaRPr lang="en-US" sz="1100" dirty="0"/>
          </a:p>
        </p:txBody>
      </p:sp>
      <p:sp>
        <p:nvSpPr>
          <p:cNvPr id="42" name="Shape 34"/>
          <p:cNvSpPr/>
          <p:nvPr/>
        </p:nvSpPr>
        <p:spPr>
          <a:xfrm>
            <a:off x="3337560" y="39776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2C5F2D"/>
          </a:solidFill>
          <a:ln/>
        </p:spPr>
      </p:sp>
      <p:sp>
        <p:nvSpPr>
          <p:cNvPr id="43" name="Text 35"/>
          <p:cNvSpPr/>
          <p:nvPr/>
        </p:nvSpPr>
        <p:spPr>
          <a:xfrm>
            <a:off x="3337560" y="4069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44" name="Text 36"/>
          <p:cNvSpPr/>
          <p:nvPr/>
        </p:nvSpPr>
        <p:spPr>
          <a:xfrm>
            <a:off x="3337560" y="465429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45" name="Shape 37"/>
          <p:cNvSpPr/>
          <p:nvPr/>
        </p:nvSpPr>
        <p:spPr>
          <a:xfrm>
            <a:off x="6126480" y="39776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2C5F2D"/>
          </a:solidFill>
          <a:ln/>
        </p:spPr>
      </p:sp>
      <p:sp>
        <p:nvSpPr>
          <p:cNvPr id="46" name="Text 38"/>
          <p:cNvSpPr/>
          <p:nvPr/>
        </p:nvSpPr>
        <p:spPr>
          <a:xfrm>
            <a:off x="6126480" y="4069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47" name="Text 39"/>
          <p:cNvSpPr/>
          <p:nvPr/>
        </p:nvSpPr>
        <p:spPr>
          <a:xfrm>
            <a:off x="6126480" y="465429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removed</a:t>
            </a:r>
            <a:endParaRPr lang="en-US" sz="1100" dirty="0"/>
          </a:p>
        </p:txBody>
      </p:sp>
      <p:sp>
        <p:nvSpPr>
          <p:cNvPr id="48" name="Shape 40"/>
          <p:cNvSpPr/>
          <p:nvPr/>
        </p:nvSpPr>
        <p:spPr>
          <a:xfrm>
            <a:off x="8915400" y="39776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2C5F2D"/>
          </a:solidFill>
          <a:ln/>
        </p:spPr>
      </p:sp>
      <p:sp>
        <p:nvSpPr>
          <p:cNvPr id="49" name="Text 41"/>
          <p:cNvSpPr/>
          <p:nvPr/>
        </p:nvSpPr>
        <p:spPr>
          <a:xfrm>
            <a:off x="8915400" y="4069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50" name="Text 42"/>
          <p:cNvSpPr/>
          <p:nvPr/>
        </p:nvSpPr>
        <p:spPr>
          <a:xfrm>
            <a:off x="8915400" y="465429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100" dirty="0"/>
          </a:p>
        </p:txBody>
      </p:sp>
      <p:sp>
        <p:nvSpPr>
          <p:cNvPr id="51" name="Text 43"/>
          <p:cNvSpPr/>
          <p:nvPr/>
        </p:nvSpPr>
        <p:spPr>
          <a:xfrm>
            <a:off x="548640" y="52578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rules: Temperature 10–35°C · Humidity 50–100% · CO₂ 400–2000 ppm · forward-fill for short gaps · latest-timestamp deduplication.</a:t>
            </a:r>
            <a:endParaRPr lang="en-US" sz="1150" dirty="0"/>
          </a:p>
        </p:txBody>
      </p:sp>
      <p:sp>
        <p:nvSpPr>
          <p:cNvPr id="52" name="Text 4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Mushroom Yield Forecast</a:t>
            </a:r>
            <a:endParaRPr lang="en-US" sz="900" dirty="0"/>
          </a:p>
        </p:txBody>
      </p:sp>
      <p:sp>
        <p:nvSpPr>
          <p:cNvPr id="53" name="Text 4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 and humidity help yield; CO₂ holds it back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1691640"/>
            <a:ext cx="475488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9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086600" y="180136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collinearity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086600" y="2130552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variables barely correlate with each other (|r| &lt; 0.03), so regression coefficients stay reliable.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858000" y="3063240"/>
            <a:ext cx="475488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9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086600" y="317296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climate control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086600" y="3502152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show coefficient of variation under 10% — a stable, well-managed polyhouse.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0" y="4434840"/>
            <a:ext cx="475488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9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086600" y="454456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Near-symmetric distributions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086600" y="4873752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and median align closely across temperature, humidity, CO₂, and yield.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Mushroom Yield Forecast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Scaled features, validated the way a forecaster actually works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images/icon_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0391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9202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Scaling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868680" y="2542032"/>
            <a:ext cx="4709160" cy="640080"/>
          </a:xfrm>
          <a:prstGeom prst="roundRect">
            <a:avLst>
              <a:gd name="adj" fmla="val 8571"/>
            </a:avLst>
          </a:prstGeom>
          <a:solidFill>
            <a:srgbClr val="F0F2EC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54203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x_scaled = (x − x_min) / (x_max − x_min)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331012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temperature, humidity, and CO₂ onto a common [0, 1] range so no single sensor scale dominates the model — fitted only on training data to avoid leakage.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" y="427939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feature tested: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68680" y="459943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51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temp_humid_interaction = (temperature_c × humidity_pct) / 100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68680" y="5010912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inputs alone gave more stable cross-validation than the interaction term — so the final model kept it simple.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72200" y="16916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2C5F2D"/>
          </a:solidFill>
          <a:ln/>
        </p:spPr>
      </p:sp>
      <p:sp>
        <p:nvSpPr>
          <p:cNvPr id="15" name="Shape 12"/>
          <p:cNvSpPr/>
          <p:nvPr/>
        </p:nvSpPr>
        <p:spPr>
          <a:xfrm>
            <a:off x="6446520" y="1920240"/>
            <a:ext cx="457200" cy="457200"/>
          </a:xfrm>
          <a:prstGeom prst="ellipse">
            <a:avLst/>
          </a:prstGeom>
          <a:solidFill>
            <a:srgbClr val="3D6B3D"/>
          </a:solidFill>
          <a:ln/>
        </p:spPr>
      </p:sp>
      <p:pic>
        <p:nvPicPr>
          <p:cNvPr id="16" name="Image 1" descr="images/icon_calend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2039112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040880" y="1920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80 / 20 Split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6446520" y="25420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random K-fold?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446520" y="28346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days are highly correlated — a random split leaks future information into training and inflates test scores.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446520" y="3794760"/>
            <a:ext cx="3950208" cy="457200"/>
          </a:xfrm>
          <a:prstGeom prst="roundRect">
            <a:avLst>
              <a:gd name="adj" fmla="val 8000"/>
            </a:avLst>
          </a:prstGeom>
          <a:solidFill>
            <a:srgbClr val="97BC62"/>
          </a:solidFill>
          <a:ln/>
        </p:spPr>
      </p:sp>
      <p:sp>
        <p:nvSpPr>
          <p:cNvPr id="21" name="Shape 17"/>
          <p:cNvSpPr/>
          <p:nvPr/>
        </p:nvSpPr>
        <p:spPr>
          <a:xfrm>
            <a:off x="10396728" y="3794760"/>
            <a:ext cx="987552" cy="457200"/>
          </a:xfrm>
          <a:prstGeom prst="roundRect">
            <a:avLst>
              <a:gd name="adj" fmla="val 8000"/>
            </a:avLst>
          </a:prstGeom>
          <a:solidFill>
            <a:srgbClr val="C75146"/>
          </a:solidFill>
          <a:ln/>
        </p:spPr>
      </p:sp>
      <p:sp>
        <p:nvSpPr>
          <p:cNvPr id="22" name="Text 18"/>
          <p:cNvSpPr/>
          <p:nvPr/>
        </p:nvSpPr>
        <p:spPr>
          <a:xfrm>
            <a:off x="6446520" y="4306824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7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· 292 days (Jan 1 – Oct 18)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10122408" y="430682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7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· 73 days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446520" y="4663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Safeguards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6446520" y="495604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7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test_start_date &gt; train_end_date enforced in code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7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MinMaxScaler fitted only on training data, then applied to test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Mushroom Yield Forecast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models, one clear winner on held-out data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1737360"/>
        </p:xfrm>
        <a:graphic>
          <a:graphicData uri="http://schemas.openxmlformats.org/drawingml/2006/table">
            <a:tbl>
              <a:tblPr/>
              <a:tblGrid>
                <a:gridCol w="3931920"/>
                <a:gridCol w="1783080"/>
                <a:gridCol w="1783080"/>
                <a:gridCol w="1783080"/>
                <a:gridCol w="178308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MAE (kg)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MAE (kg)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RMSE (kg)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 ♦ Champion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(Tuned)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C6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C6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C6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C6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(Default)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C6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C6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C6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C6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7947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6B8E4E"/>
          </a:solidFill>
          <a:ln/>
        </p:spPr>
      </p:sp>
      <p:pic>
        <p:nvPicPr>
          <p:cNvPr id="7" name="Image 0" descr="images/icon_too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41422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4023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tuning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822960" y="45720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TimeSeriesSplit (3 folds) + GridSearchCV across n_estimators, max_depth, min_samples_leaf.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126480" y="3977640"/>
            <a:ext cx="0" cy="1051560"/>
          </a:xfrm>
          <a:prstGeom prst="line">
            <a:avLst/>
          </a:prstGeom>
          <a:noFill/>
          <a:ln w="12700">
            <a:solidFill>
              <a:srgbClr val="DDE3D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355080" y="4023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hyperparameters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6355080" y="43159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max_depth: 8   ·   min_samples_leaf: 5   ·   n_estimators: 100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355080" y="473659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tuning, Random Forest still trailed the simpler linear baseline on every test metric.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Mushroom Yield Forecast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5029200" cy="5029200"/>
          </a:xfrm>
          <a:prstGeom prst="ellipse">
            <a:avLst/>
          </a:prstGeom>
          <a:solidFill>
            <a:srgbClr val="2C5F2D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 wins — on accuracy and trust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94360" cy="594360"/>
          </a:xfrm>
          <a:prstGeom prst="ellipse">
            <a:avLst/>
          </a:prstGeom>
          <a:solidFill>
            <a:srgbClr val="C75146"/>
          </a:solidFill>
          <a:ln/>
        </p:spPr>
      </p:sp>
      <p:pic>
        <p:nvPicPr>
          <p:cNvPr id="6" name="Image 0" descr="images/icon_trop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174" y="193761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783080"/>
            <a:ext cx="612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because it has the lowest Test MAE, lowest Test RMSE, the highest R², and is far easier for growers and stakeholders to interpret and maintain.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926080"/>
            <a:ext cx="6949440" cy="1417320"/>
          </a:xfrm>
          <a:prstGeom prst="roundRect">
            <a:avLst>
              <a:gd name="adj" fmla="val 5161"/>
            </a:avLst>
          </a:prstGeom>
          <a:solidFill>
            <a:srgbClr val="24372A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3127248"/>
            <a:ext cx="438912" cy="438912"/>
          </a:xfrm>
          <a:prstGeom prst="ellipse">
            <a:avLst/>
          </a:prstGeom>
          <a:solidFill>
            <a:srgbClr val="6B8E4E"/>
          </a:solidFill>
          <a:ln/>
        </p:spPr>
      </p:sp>
      <p:pic>
        <p:nvPicPr>
          <p:cNvPr id="10" name="Image 1" descr="images/icon_bal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357" y="3241365"/>
            <a:ext cx="210678" cy="21067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1272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Tie-breaking rule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77240" y="361188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gap in Test MAE between a complex and a simple model is under 0.05 kg, the simpler model wins.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777240" y="402336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51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0.445 − 0.419 = 0.026 kg  →  well under threshold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572000"/>
            <a:ext cx="6949440" cy="1508760"/>
          </a:xfrm>
          <a:prstGeom prst="roundRect">
            <a:avLst>
              <a:gd name="adj" fmla="val 4848"/>
            </a:avLst>
          </a:prstGeom>
          <a:solidFill>
            <a:srgbClr val="24372A"/>
          </a:solidFill>
          <a:ln/>
        </p:spPr>
      </p:sp>
      <p:sp>
        <p:nvSpPr>
          <p:cNvPr id="15" name="Text 11"/>
          <p:cNvSpPr/>
          <p:nvPr/>
        </p:nvSpPr>
        <p:spPr>
          <a:xfrm>
            <a:off x="777240" y="4681728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coefficients — direct, interpretable drivers of yield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77240" y="5029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+1.894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777240" y="5532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017520" y="5029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+0.959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3017520" y="5532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257800" y="5029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751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−1.213</a:t>
            </a:r>
            <a:endParaRPr lang="en-US" sz="2400" dirty="0"/>
          </a:p>
        </p:txBody>
      </p:sp>
      <p:sp>
        <p:nvSpPr>
          <p:cNvPr id="21" name="Text 17"/>
          <p:cNvSpPr/>
          <p:nvPr/>
        </p:nvSpPr>
        <p:spPr>
          <a:xfrm>
            <a:off x="5257800" y="5532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7772400" y="1783080"/>
            <a:ext cx="3840480" cy="4297680"/>
          </a:xfrm>
          <a:prstGeom prst="roundRect">
            <a:avLst>
              <a:gd name="adj" fmla="val 1905"/>
            </a:avLst>
          </a:prstGeom>
          <a:solidFill>
            <a:srgbClr val="2C5F2D"/>
          </a:solidFill>
          <a:ln/>
        </p:spPr>
      </p:sp>
      <p:sp>
        <p:nvSpPr>
          <p:cNvPr id="23" name="Text 19"/>
          <p:cNvSpPr/>
          <p:nvPr/>
        </p:nvSpPr>
        <p:spPr>
          <a:xfrm>
            <a:off x="7772400" y="2011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PERFORMANCE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7772400" y="23317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0.419 kg</a:t>
            </a:r>
            <a:endParaRPr lang="en-US" sz="3800" dirty="0"/>
          </a:p>
        </p:txBody>
      </p:sp>
      <p:sp>
        <p:nvSpPr>
          <p:cNvPr id="25" name="Text 21"/>
          <p:cNvSpPr/>
          <p:nvPr/>
        </p:nvSpPr>
        <p:spPr>
          <a:xfrm>
            <a:off x="7772400" y="3063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MAE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8229600" y="3520440"/>
            <a:ext cx="2926080" cy="0"/>
          </a:xfrm>
          <a:prstGeom prst="line">
            <a:avLst/>
          </a:prstGeom>
          <a:noFill/>
          <a:ln w="12700">
            <a:solidFill>
              <a:srgbClr val="3D6B3D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772400" y="37033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42.7%</a:t>
            </a:r>
            <a:endParaRPr lang="en-US" sz="3200" dirty="0"/>
          </a:p>
        </p:txBody>
      </p:sp>
      <p:sp>
        <p:nvSpPr>
          <p:cNvPr id="28" name="Text 24"/>
          <p:cNvSpPr/>
          <p:nvPr/>
        </p:nvSpPr>
        <p:spPr>
          <a:xfrm>
            <a:off x="7955280" y="4343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yield variance explained (R² = 0.427)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8229600" y="4937760"/>
            <a:ext cx="2926080" cy="0"/>
          </a:xfrm>
          <a:prstGeom prst="line">
            <a:avLst/>
          </a:prstGeom>
          <a:noFill/>
          <a:ln w="12700">
            <a:solidFill>
              <a:srgbClr val="3D6B3D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772400" y="50749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0.535 kg</a:t>
            </a:r>
            <a:endParaRPr lang="en-US" sz="2600" dirty="0"/>
          </a:p>
        </p:txBody>
      </p:sp>
      <p:sp>
        <p:nvSpPr>
          <p:cNvPr id="31" name="Text 27"/>
          <p:cNvSpPr/>
          <p:nvPr/>
        </p:nvSpPr>
        <p:spPr>
          <a:xfrm>
            <a:off x="7772400" y="5623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RMSE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Mushroom Yield Forecast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model to dashboard: the Polyhouse Yield Predictor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94485" y="1554480"/>
            <a:ext cx="6929875" cy="4709160"/>
          </a:xfrm>
          <a:prstGeom prst="roundRect">
            <a:avLst>
              <a:gd name="adj" fmla="val 1165"/>
            </a:avLst>
          </a:prstGeom>
          <a:solidFill>
            <a:srgbClr val="1B2B1E"/>
          </a:solidFill>
          <a:ln/>
          <a:effectLst>
            <a:outerShdw sx="100000" sy="100000" kx="0" ky="0" algn="bl" rotWithShape="0" blurRad="152400" dist="508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images/app_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1645" y="1691640"/>
            <a:ext cx="6655555" cy="4434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7" name="Image 1" descr="images/icon_tem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02" y="1801002"/>
            <a:ext cx="201900" cy="2019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6642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sliders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097280" y="198424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(10–35°C), humidity (50–100%), CO₂ (400–2000 ppm).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2743200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1" name="Image 2" descr="images/icon_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02" y="2852562"/>
            <a:ext cx="201900" cy="2019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27157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prediction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1097280" y="303580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on “Predict Yield” returns an estimate in kilograms.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48640" y="3794760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5" name="Image 3" descr="images/icon_war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002" y="3904122"/>
            <a:ext cx="201900" cy="2019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7280" y="37673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boundary warnings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097280" y="408736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inputs outside training ranges so growers know when to trust it less.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548640" y="4846320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9" name="Image 4" descr="images/icon_dat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002" y="4955682"/>
            <a:ext cx="201900" cy="2019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97280" y="48188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sensitivity chart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1097280" y="513892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predicted yield as humidity varies, holding other inputs fixed.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Mushroom Yield Forecast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live reading: 22°C, 88% humidity, 920 ppm CO₂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65960" y="1938528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images/icon_te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4832" y="205740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514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8640" y="2788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22.00 °C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069080" y="178308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0" y="1938528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1" name="Image 1" descr="images/icon_humid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5272" y="205740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69080" y="2514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069080" y="2788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88.00 %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7589520" y="178308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9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006840" y="1938528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6" name="Image 2" descr="images/icon_co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5712" y="205740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589520" y="2514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7589520" y="2788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920 ppm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548640" y="34290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8E4E"/>
                </a:solidFill>
              </a:rPr>
              <a:t>↓</a:t>
            </a:r>
            <a:endParaRPr lang="en-US" sz="2200" dirty="0"/>
          </a:p>
        </p:txBody>
      </p:sp>
      <p:sp>
        <p:nvSpPr>
          <p:cNvPr id="20" name="Shape 15"/>
          <p:cNvSpPr/>
          <p:nvPr/>
        </p:nvSpPr>
        <p:spPr>
          <a:xfrm>
            <a:off x="548640" y="3931920"/>
            <a:ext cx="6400800" cy="1417320"/>
          </a:xfrm>
          <a:prstGeom prst="roundRect">
            <a:avLst>
              <a:gd name="adj" fmla="val 6452"/>
            </a:avLst>
          </a:prstGeom>
          <a:solidFill>
            <a:srgbClr val="2C5F2D"/>
          </a:solidFill>
          <a:ln/>
        </p:spPr>
      </p:sp>
      <p:sp>
        <p:nvSpPr>
          <p:cNvPr id="21" name="Shape 16"/>
          <p:cNvSpPr/>
          <p:nvPr/>
        </p:nvSpPr>
        <p:spPr>
          <a:xfrm>
            <a:off x="822960" y="4206240"/>
            <a:ext cx="548640" cy="548640"/>
          </a:xfrm>
          <a:prstGeom prst="ellipse">
            <a:avLst/>
          </a:prstGeom>
          <a:solidFill>
            <a:srgbClr val="C75146"/>
          </a:solidFill>
          <a:ln/>
        </p:spPr>
      </p:sp>
      <p:pic>
        <p:nvPicPr>
          <p:cNvPr id="22" name="Image 3" descr="images/icon_seedl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" y="4348886"/>
            <a:ext cx="263347" cy="26334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54480" y="4160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YIELD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554480" y="44348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17.00 kg</a:t>
            </a:r>
            <a:endParaRPr lang="en-US" sz="3800" dirty="0"/>
          </a:p>
        </p:txBody>
      </p:sp>
      <p:sp>
        <p:nvSpPr>
          <p:cNvPr id="25" name="Shape 19"/>
          <p:cNvSpPr/>
          <p:nvPr/>
        </p:nvSpPr>
        <p:spPr>
          <a:xfrm>
            <a:off x="7178040" y="3931920"/>
            <a:ext cx="4434840" cy="1417320"/>
          </a:xfrm>
          <a:prstGeom prst="roundRect">
            <a:avLst>
              <a:gd name="adj" fmla="val 6452"/>
            </a:avLst>
          </a:prstGeom>
          <a:solidFill>
            <a:srgbClr val="EAF0E2"/>
          </a:solidFill>
          <a:ln/>
        </p:spPr>
      </p:sp>
      <p:sp>
        <p:nvSpPr>
          <p:cNvPr id="26" name="Shape 20"/>
          <p:cNvSpPr/>
          <p:nvPr/>
        </p:nvSpPr>
        <p:spPr>
          <a:xfrm>
            <a:off x="7406640" y="4114800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27" name="Image 4" descr="images/icon_war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6492" y="4214652"/>
            <a:ext cx="184343" cy="18434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909560" y="41148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only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7406640" y="44805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forecast should not replace grower judgment — it's a decision-support signal, not a guarantee.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input sits well inside the training envelope, so the model's confidence here is high relative to out-of-range readings.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Mushroom Yield Forecast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MONITORING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 to the cloud, with logging to catch drift early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2C5F2D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3D6B3D"/>
          </a:solidFill>
          <a:ln/>
        </p:spPr>
      </p:sp>
      <p:pic>
        <p:nvPicPr>
          <p:cNvPr id="6" name="Image 0" descr="images/icon_deplo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20967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659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Cloud Deployment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69748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7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Streamlit Community Cloud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7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cloud predictions match local results within floating-point tolerance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7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Sliders for temperature, humidity, and CO₂ drive one-click predictions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68680" y="4343400"/>
            <a:ext cx="4754880" cy="1417320"/>
          </a:xfrm>
          <a:prstGeom prst="roundRect">
            <a:avLst>
              <a:gd name="adj" fmla="val 3871"/>
            </a:avLst>
          </a:prstGeom>
          <a:solidFill>
            <a:srgbClr val="24372A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44531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link</a:t>
            </a:r>
            <a:endParaRPr lang="en-US" sz="1100" dirty="0"/>
          </a:p>
        </p:txBody>
      </p:sp>
      <p:sp>
        <p:nvSpPr>
          <p:cNvPr id="11" name="Text 8">
            <a:hlinkClick r:id="rId2" tooltip=""/>
          </p:cNvPr>
          <p:cNvSpPr/>
          <p:nvPr/>
        </p:nvSpPr>
        <p:spPr>
          <a:xfrm>
            <a:off x="1051560" y="4736592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u="sng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vazeem-internship-2026‑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u="sng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5yryfkqukyvqh9zgefpj7z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u="sng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.streamlit.app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72200" y="173736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46520" y="1965960"/>
            <a:ext cx="502920" cy="502920"/>
          </a:xfrm>
          <a:prstGeom prst="ellipse">
            <a:avLst/>
          </a:prstGeom>
          <a:solidFill>
            <a:srgbClr val="6B8E4E"/>
          </a:solidFill>
          <a:ln/>
        </p:spPr>
      </p:sp>
      <p:pic>
        <p:nvPicPr>
          <p:cNvPr id="14" name="Image 1" descr="images/icon_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279" y="2096719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86600" y="19659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Monitoring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446520" y="260604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request is logged to logs/predictions.csv: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92240" y="3063240"/>
            <a:ext cx="91440" cy="91440"/>
          </a:xfrm>
          <a:prstGeom prst="ellipse">
            <a:avLst/>
          </a:prstGeom>
          <a:solidFill>
            <a:srgbClr val="C75146"/>
          </a:solidFill>
          <a:ln/>
        </p:spPr>
      </p:sp>
      <p:sp>
        <p:nvSpPr>
          <p:cNvPr id="18" name="Text 14"/>
          <p:cNvSpPr/>
          <p:nvPr/>
        </p:nvSpPr>
        <p:spPr>
          <a:xfrm>
            <a:off x="6720840" y="294436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timestamp_utc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492240" y="3410712"/>
            <a:ext cx="91440" cy="91440"/>
          </a:xfrm>
          <a:prstGeom prst="ellipse">
            <a:avLst/>
          </a:prstGeom>
          <a:solidFill>
            <a:srgbClr val="C75146"/>
          </a:solidFill>
          <a:ln/>
        </p:spPr>
      </p:sp>
      <p:sp>
        <p:nvSpPr>
          <p:cNvPr id="20" name="Text 16"/>
          <p:cNvSpPr/>
          <p:nvPr/>
        </p:nvSpPr>
        <p:spPr>
          <a:xfrm>
            <a:off x="6720840" y="329184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temperature_c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492240" y="3758184"/>
            <a:ext cx="91440" cy="91440"/>
          </a:xfrm>
          <a:prstGeom prst="ellipse">
            <a:avLst/>
          </a:prstGeom>
          <a:solidFill>
            <a:srgbClr val="C75146"/>
          </a:solidFill>
          <a:ln/>
        </p:spPr>
      </p:sp>
      <p:sp>
        <p:nvSpPr>
          <p:cNvPr id="22" name="Text 18"/>
          <p:cNvSpPr/>
          <p:nvPr/>
        </p:nvSpPr>
        <p:spPr>
          <a:xfrm>
            <a:off x="6720840" y="363931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humidity_pct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492240" y="4105656"/>
            <a:ext cx="91440" cy="91440"/>
          </a:xfrm>
          <a:prstGeom prst="ellipse">
            <a:avLst/>
          </a:prstGeom>
          <a:solidFill>
            <a:srgbClr val="C75146"/>
          </a:solidFill>
          <a:ln/>
        </p:spPr>
      </p:sp>
      <p:sp>
        <p:nvSpPr>
          <p:cNvPr id="24" name="Text 20"/>
          <p:cNvSpPr/>
          <p:nvPr/>
        </p:nvSpPr>
        <p:spPr>
          <a:xfrm>
            <a:off x="6720840" y="398678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co2_ppm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492240" y="4453128"/>
            <a:ext cx="91440" cy="91440"/>
          </a:xfrm>
          <a:prstGeom prst="ellipse">
            <a:avLst/>
          </a:prstGeom>
          <a:solidFill>
            <a:srgbClr val="C75146"/>
          </a:solidFill>
          <a:ln/>
        </p:spPr>
      </p:sp>
      <p:sp>
        <p:nvSpPr>
          <p:cNvPr id="26" name="Text 22"/>
          <p:cNvSpPr/>
          <p:nvPr/>
        </p:nvSpPr>
        <p:spPr>
          <a:xfrm>
            <a:off x="6720840" y="433425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predicted_kg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6446520" y="4983480"/>
            <a:ext cx="4983480" cy="0"/>
          </a:xfrm>
          <a:prstGeom prst="line">
            <a:avLst/>
          </a:prstGeom>
          <a:noFill/>
          <a:ln w="12700">
            <a:solidFill>
              <a:srgbClr val="DDE3D6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446520" y="512064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for: drift in sensor distributions, predicted yield exceeding historical max by 20%+, missing or invalid readings.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Mushroom Yield Forecast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model is honest about its limits — and what's next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7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864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1488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365 daily records rules out deep sequence models like LSTMs.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090672"/>
            <a:ext cx="54864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31821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Linearity assumption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350215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biology has thresholds — growth doesn't scale linearly past ~32°C.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4123944"/>
            <a:ext cx="54864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42153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sensor coverage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4535424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light intensity, airflow, or substrate moisture data yet.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5157216"/>
            <a:ext cx="54864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524865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" y="5568696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for development; may lack real-world sensor noise.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0936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2057400"/>
            <a:ext cx="5349240" cy="914400"/>
          </a:xfrm>
          <a:prstGeom prst="roundRect">
            <a:avLst>
              <a:gd name="adj" fmla="val 7000"/>
            </a:avLst>
          </a:prstGeom>
          <a:solidFill>
            <a:srgbClr val="2C5F2D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2240" y="2240280"/>
            <a:ext cx="384048" cy="384048"/>
          </a:xfrm>
          <a:prstGeom prst="ellipse">
            <a:avLst/>
          </a:prstGeom>
          <a:solidFill>
            <a:srgbClr val="3D6B3D"/>
          </a:solidFill>
          <a:ln/>
        </p:spPr>
      </p:sp>
      <p:pic>
        <p:nvPicPr>
          <p:cNvPr id="20" name="Image 0" descr="images/icon_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2092" y="2340132"/>
            <a:ext cx="184343" cy="184343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995160" y="21488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features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995160" y="2468880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intensity, soil moisture, ventilation rate, growth-stage indicators.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309360" y="3090672"/>
            <a:ext cx="5349240" cy="914400"/>
          </a:xfrm>
          <a:prstGeom prst="roundRect">
            <a:avLst>
              <a:gd name="adj" fmla="val 7000"/>
            </a:avLst>
          </a:prstGeom>
          <a:solidFill>
            <a:srgbClr val="2C5F2D"/>
          </a:solidFill>
          <a:ln/>
        </p:spPr>
      </p:sp>
      <p:sp>
        <p:nvSpPr>
          <p:cNvPr id="24" name="Shape 21"/>
          <p:cNvSpPr/>
          <p:nvPr/>
        </p:nvSpPr>
        <p:spPr>
          <a:xfrm>
            <a:off x="6492240" y="3273552"/>
            <a:ext cx="384048" cy="384048"/>
          </a:xfrm>
          <a:prstGeom prst="ellipse">
            <a:avLst/>
          </a:prstGeom>
          <a:solidFill>
            <a:srgbClr val="3D6B3D"/>
          </a:solidFill>
          <a:ln/>
        </p:spPr>
      </p:sp>
      <p:pic>
        <p:nvPicPr>
          <p:cNvPr id="25" name="Image 1" descr="images/icon_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092" y="3373404"/>
            <a:ext cx="184343" cy="184343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995160" y="31821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retraining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6995160" y="3502152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pipeline using new production data every 3–6 months.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6309360" y="4123944"/>
            <a:ext cx="5349240" cy="914400"/>
          </a:xfrm>
          <a:prstGeom prst="roundRect">
            <a:avLst>
              <a:gd name="adj" fmla="val 7000"/>
            </a:avLst>
          </a:prstGeom>
          <a:solidFill>
            <a:srgbClr val="2C5F2D"/>
          </a:solidFill>
          <a:ln/>
        </p:spPr>
      </p:sp>
      <p:sp>
        <p:nvSpPr>
          <p:cNvPr id="29" name="Shape 25"/>
          <p:cNvSpPr/>
          <p:nvPr/>
        </p:nvSpPr>
        <p:spPr>
          <a:xfrm>
            <a:off x="6492240" y="4306824"/>
            <a:ext cx="384048" cy="384048"/>
          </a:xfrm>
          <a:prstGeom prst="ellipse">
            <a:avLst/>
          </a:prstGeom>
          <a:solidFill>
            <a:srgbClr val="3D6B3D"/>
          </a:solidFill>
          <a:ln/>
        </p:spPr>
      </p:sp>
      <p:pic>
        <p:nvPicPr>
          <p:cNvPr id="30" name="Image 2" descr="images/icon_war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092" y="4406676"/>
            <a:ext cx="184343" cy="184343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995160" y="421538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 dashboard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6995160" y="4535424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alerts for sensor drift, seasonal drift, and prediction anomalies.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6309360" y="5157216"/>
            <a:ext cx="5349240" cy="914400"/>
          </a:xfrm>
          <a:prstGeom prst="roundRect">
            <a:avLst>
              <a:gd name="adj" fmla="val 7000"/>
            </a:avLst>
          </a:prstGeom>
          <a:solidFill>
            <a:srgbClr val="2C5F2D"/>
          </a:solidFill>
          <a:ln/>
        </p:spPr>
      </p:sp>
      <p:sp>
        <p:nvSpPr>
          <p:cNvPr id="34" name="Shape 29"/>
          <p:cNvSpPr/>
          <p:nvPr/>
        </p:nvSpPr>
        <p:spPr>
          <a:xfrm>
            <a:off x="6492240" y="5340096"/>
            <a:ext cx="384048" cy="384048"/>
          </a:xfrm>
          <a:prstGeom prst="ellipse">
            <a:avLst/>
          </a:prstGeom>
          <a:solidFill>
            <a:srgbClr val="3D6B3D"/>
          </a:solidFill>
          <a:ln/>
        </p:spPr>
      </p:sp>
      <p:pic>
        <p:nvPicPr>
          <p:cNvPr id="35" name="Image 3" descr="images/icon_ide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092" y="5439948"/>
            <a:ext cx="184343" cy="184343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995160" y="524865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Multi-polyhouse support</a:t>
            </a:r>
            <a:endParaRPr lang="en-US" sz="1250" dirty="0"/>
          </a:p>
        </p:txBody>
      </p:sp>
      <p:sp>
        <p:nvSpPr>
          <p:cNvPr id="37" name="Text 31"/>
          <p:cNvSpPr/>
          <p:nvPr/>
        </p:nvSpPr>
        <p:spPr>
          <a:xfrm>
            <a:off x="6995160" y="5568696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forecasting models for multiple cultivation environments.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Mushroom Yield Forecast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2C5F2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840480"/>
            <a:ext cx="4572000" cy="4572000"/>
          </a:xfrm>
          <a:prstGeom prst="ellipse">
            <a:avLst/>
          </a:prstGeom>
          <a:solidFill>
            <a:srgbClr val="6B8E4E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1371600"/>
            <a:ext cx="685800" cy="685800"/>
          </a:xfrm>
          <a:prstGeom prst="ellipse">
            <a:avLst/>
          </a:prstGeom>
          <a:solidFill>
            <a:srgbClr val="C75146"/>
          </a:solidFill>
          <a:ln/>
        </p:spPr>
      </p:sp>
      <p:pic>
        <p:nvPicPr>
          <p:cNvPr id="5" name="Image 0" descr="images/icon_seed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3268" y="154990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3317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sensor data to harvest-ready forecasts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914400" y="31089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623560" y="3977640"/>
            <a:ext cx="914400" cy="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425196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7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Vazeem Basheer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Development / Data Science Internship — Zellbytes, 2026</a:t>
            </a:r>
            <a:endParaRPr lang="en-US" sz="1300" dirty="0"/>
          </a:p>
        </p:txBody>
      </p:sp>
      <p:sp>
        <p:nvSpPr>
          <p:cNvPr id="10" name="Text 7">
            <a:hlinkClick r:id="rId2" tooltip=""/>
          </p:cNvPr>
          <p:cNvSpPr/>
          <p:nvPr/>
        </p:nvSpPr>
        <p:spPr>
          <a:xfrm>
            <a:off x="914400" y="48006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vazeem-internship-2026-5yryfkqukyvqh9zgefpj7z.streamlit.app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Mushroom Yield Forecast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Mushroom Yield Forecast</dc:title>
  <dc:subject>PptxGenJS Presentation</dc:subject>
  <dc:creator>Vazeem Basheer</dc:creator>
  <cp:lastModifiedBy>Vazeem Basheer</cp:lastModifiedBy>
  <cp:revision>1</cp:revision>
  <dcterms:created xsi:type="dcterms:W3CDTF">2026-06-19T06:30:49Z</dcterms:created>
  <dcterms:modified xsi:type="dcterms:W3CDTF">2026-06-19T06:30:49Z</dcterms:modified>
</cp:coreProperties>
</file>